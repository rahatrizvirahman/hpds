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  <p:sldMasterId id="2147483686" r:id="rId2"/>
    <p:sldMasterId id="2147483672" r:id="rId3"/>
    <p:sldMasterId id="2147483688" r:id="rId4"/>
  </p:sldMasterIdLst>
  <p:notesMasterIdLst>
    <p:notesMasterId r:id="rId24"/>
  </p:notesMasterIdLst>
  <p:sldIdLst>
    <p:sldId id="258" r:id="rId5"/>
    <p:sldId id="273" r:id="rId6"/>
    <p:sldId id="274" r:id="rId7"/>
    <p:sldId id="279" r:id="rId8"/>
    <p:sldId id="275" r:id="rId9"/>
    <p:sldId id="276" r:id="rId10"/>
    <p:sldId id="277" r:id="rId11"/>
    <p:sldId id="278" r:id="rId12"/>
    <p:sldId id="281" r:id="rId13"/>
    <p:sldId id="280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70" r:id="rId23"/>
  </p:sldIdLst>
  <p:sldSz cx="9144000" cy="5143500" type="screen16x9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2C2D"/>
    <a:srgbClr val="000000"/>
    <a:srgbClr val="F0F0F0"/>
    <a:srgbClr val="E2E2E2"/>
    <a:srgbClr val="FEBE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52" autoAdjust="0"/>
    <p:restoredTop sz="95878" autoAdjust="0"/>
  </p:normalViewPr>
  <p:slideViewPr>
    <p:cSldViewPr snapToGrid="0" snapToObjects="1">
      <p:cViewPr varScale="1">
        <p:scale>
          <a:sx n="141" d="100"/>
          <a:sy n="141" d="100"/>
        </p:scale>
        <p:origin x="930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D0B49E-D587-4D05-9A27-3AEC517179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A050D4-E039-465F-B72C-CC8A7311291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B6880E2-0A2B-40C6-A465-19E434308345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62D0BC-2A47-4A32-B613-836DCCE55E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E6856CD-48CD-4489-9149-0CA79815BD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52676-18C4-4D23-A85D-54CD22CC0E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DAF1E0-10D3-45CC-9D1A-9C40A314A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0AC947F-BBC7-4FDB-A6DB-1EC6A7310C3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210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34200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4961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4059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9000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71646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1937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98756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294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37723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62643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022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1552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8218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28252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97540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AC947F-BBC7-4FDB-A6DB-1EC6A7310C3B}" type="slidenum">
              <a:rPr lang="en-US" altLang="en-US" smtClean="0"/>
              <a:pPr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8727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0B012-42FE-4328-9FB6-F8C4D01A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92C0B0-3253-496F-8124-7E81195BA64D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EBDA0-2D55-463E-A486-744B238EF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27C8F-357F-462A-82A0-4765AF4F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3D8A8-F2D3-44C8-AF5B-B8299F74FD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284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E475F7-4137-429F-9827-C9A764B91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72CCDD4-4AB9-4E77-8FAC-13CF81C47959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4FEA6-E86D-49B8-B6AA-F5444889D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39C33-77E9-4C5F-987D-92C7DC231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014F7D-FE77-4C35-B12B-B3A0E48DC7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9725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6781B-BAA1-4CB9-8D16-CF2475C8D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949351B-3F09-4C7F-8A50-E94F71321DC9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AFE42-633F-4814-8643-0BF0D5F2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9F8D0-2E51-48B8-9B98-AC0257EDD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52EDC3-3130-4817-B015-0A31BE8CD6B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3753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BAFDC-910F-42F5-9888-172B18A79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E8ED03-BED0-4F3E-BD78-34BBCB33A5F6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F34F3-1B3F-442D-9AA3-3379F16F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02C771-AE13-417D-9EFD-DAB959F7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22747-9FE7-4527-94B2-BB16637BC0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813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CB8DD-A668-411E-B28D-94B8DB44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163B8E6-B207-4E3D-98FD-4DC247BD3AAA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ABEA2-2235-4C9E-AD6D-7150DAA4D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2034D-C826-4DEF-8102-1CAB1D99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26927-2716-4099-924D-7679E7DDB1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061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631FA01-E2BB-45BC-A717-4D5CF7835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CC482DA-2221-4B41-9A3B-2975C7CF4382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C32F0D1-80F9-4F76-ABBF-BA02A9306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45B83B4-F39C-4CD9-AAF4-FFB7A8C1B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F9B07D-761B-4C4F-BE77-161609DB59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659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0FF6EF5-BAE3-4020-932B-F6D5EC75F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F7CE34-7A3A-4549-9860-485C21484BFD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B85126A-A74C-4FBC-9D7D-A4D5763C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1D82D7-2B8A-466F-BB4E-9810EFA59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6C3E10-9CF0-4AD2-AABB-7D669AAF37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410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DF8B361-5F7C-4DFA-BFF9-C202F5FDD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30D67D1-57DC-4F9D-BAA3-85BE1639ED2E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0545F0-089F-41C6-A9CF-E6DDE48D1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81C5EFA-6EC5-4D97-B52D-20918D9F9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2ABABE-5C4C-4235-A1E6-635B63BC92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161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08DA10F-DFB8-4A17-8254-422B9683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3966B0-EE85-40CD-B72D-3A0659B70677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811D38D-82A4-47D0-A5CF-A811DF97C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8BEA20-D326-48EC-88D7-CAB77F8D3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7F6ED6-6B68-481D-8D32-F6FB17210B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9191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B155A8-6E64-4C57-91FA-22850CFFA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BA8342-8168-46D2-9286-222BDB776874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461010-6565-4F21-BB5F-26911C834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D06275D-D7C9-426B-AD8D-EE56A3B8C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A3EE9-4E7C-49F1-9F9F-7E27FDC68E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531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184F684-30B3-4C84-8021-1760B6F15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D6583B9-C184-4857-930E-87FF06E831AF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338765-6CE7-47D8-AE36-939F57999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C7454BE-751A-4F24-B038-9B423A22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9679F7-C118-489A-89EE-05BA6BC068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5973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32B19-A713-48CC-82DF-E235875C5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AAF2CD-CD50-496D-B8A2-C830B3FD90BE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E6575-32BF-478F-B1BE-86690D95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B7B678-04D4-4C51-9585-720B5BFD0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7A501-9708-49D7-92B2-5A907392083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93076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5F906-B2D5-495A-A3E5-B3DB1FE25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581232-05E3-4565-A109-6D5A8552B72E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FEB8B-064B-4403-8E7D-A2DD5E41E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4A211-D0CA-4BCE-B639-1CCD5560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45BA9A-77E9-4722-8F9F-335EF1D8307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9439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8613"/>
            <a:ext cx="7772400" cy="11017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EC957-C7BC-44B4-9197-AD427E53E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CF2F536-D103-40ED-8B0D-B042C4EA91AB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05E5F-F3CD-411A-8DA6-03A6C2ED0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43BA6-1F1D-426F-B2A0-64E975755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D40BEC-2707-4B25-8FE3-4E14160686F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433407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D32B6-69EA-4E7B-B383-06430388C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088DB9-CE87-475F-9BDC-9D8F854536F2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8DFE5-B91F-4B14-94C4-E1C1CEFD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0AEFC1-F95B-41A7-9621-100BF357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0B9170-B52E-4380-955A-40C81D2EFD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97204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235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79638"/>
            <a:ext cx="7772400" cy="11255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4C700-6B2B-4EA9-BB96-171933FD4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68052A-7D6C-4464-93EF-85C6D2E58478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E3505-561A-4FC9-A88C-880E31D4E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254FC-AA8D-4B1F-8DF1-26FF35B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70D2B2-7720-4A66-A033-0A2015E4B9C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44999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D77AAAE-D44E-4789-9154-FE2BF039A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FABCE10-49D1-45C8-B226-30A37821F1F2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A01D367-FC72-46BB-8C91-CFEC1A35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07B59CE-BF00-4EA9-B74C-3639E2D7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FCC4E2-F8E3-43B7-8B28-E39BC30061D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86299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0938"/>
            <a:ext cx="4040188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950"/>
            <a:ext cx="4040188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0938"/>
            <a:ext cx="4041775" cy="4810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950"/>
            <a:ext cx="4041775" cy="296227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B8265C00-E750-44A0-94A6-7FFC9E595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0B50DE-56E6-43E3-A451-AF04A19E1215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9BD640F-10FB-4E18-B6AC-8298B075C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7D5C301-C908-44E1-8077-87659482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41ACA7-D1B2-49AA-A1A4-FD6FA464F7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46262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8ABAF0C-9F83-4D76-A7EB-1D0F3F600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CAB5C65-2A43-495C-835F-33FAB82C7FAC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0875962-4188-4655-B825-2D67F1A0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806F28-B3EC-40B8-9338-5D1C06CB4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1AEE98-2AF2-477C-BC54-C6EB448B2B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9682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C78B922-245B-4C5A-83CB-F2FB65EF2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6F32475-3AD3-489A-B2FF-D90BFE23FB27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2998CD3-20EB-4EE9-BDA0-A380C759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649A9E4-6F9A-4EF0-8D13-F43C2208D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0C1CB5-923B-40A5-8C27-BDDC47684A7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2410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4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79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F4DC7-F2B9-4E03-800D-CB6D42ED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1F18691-751E-498E-A530-DD25E84AFB09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5B77A4D-AAD0-4363-9FD2-6C9849264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AE184D-4FC7-4996-BB76-1E778EF8E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EAB45B-6660-49DE-8DED-F429E8F2C64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914868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60375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900"/>
            <a:ext cx="5486400" cy="6032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E952CF0-B28C-4E0F-B67E-1E67AE35C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6A2B36D-D5D8-4BB4-A013-C19AEC6D3F7A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441671E-A33B-40F4-A47D-113E1154C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B8F484C-3F81-483F-84C4-93F9B2A4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9920D4-B200-4736-A7AC-75AD36DF54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91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78175-FCA8-4C9B-BEAD-92522C503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E750C9E-C01E-4445-8B2D-0DC73CBB0DBF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B7D6E-350C-4BDF-BE7C-3C0BCA837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084A0-3775-4BFC-8CC9-8C86EAF0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94BA6D-7255-4B44-9A92-0CD21BBBC81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71015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43878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43878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3D65D-D3B0-4E01-AE31-71D9F016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77F80B-8705-4054-BDEA-F6EC28BE20FF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23792-72EE-49F6-B98C-35DBDB6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A4D1C8-DDBC-474F-B477-52B70ABE4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3DEF5B-C4BA-42FC-AD5C-194992041F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59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>
            <a:extLst>
              <a:ext uri="{FF2B5EF4-FFF2-40B4-BE49-F238E27FC236}">
                <a16:creationId xmlns:a16="http://schemas.microsoft.com/office/drawing/2014/main" id="{4E3AAE7E-84E0-4192-8581-33D1B42391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2">
            <a:extLst>
              <a:ext uri="{FF2B5EF4-FFF2-40B4-BE49-F238E27FC236}">
                <a16:creationId xmlns:a16="http://schemas.microsoft.com/office/drawing/2014/main" id="{3DFB29D4-AEEE-4A87-989C-13516A0539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59B34-537B-42A6-9123-06594B925E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B54B1E2A-4348-43A3-AED5-C114B3E217BA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ABAF1-8E72-4293-9768-62541AC80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D4CEF-99C0-469A-82F7-E19F99B6CA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B44FB8E3-8003-420B-9ACE-792D4DC8C407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2055" name="Picture 6" descr="GenBackground.jpg">
            <a:extLst>
              <a:ext uri="{FF2B5EF4-FFF2-40B4-BE49-F238E27FC236}">
                <a16:creationId xmlns:a16="http://schemas.microsoft.com/office/drawing/2014/main" id="{FC891139-DE7B-4FFA-966C-BEB3D4757A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60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>
            <a:extLst>
              <a:ext uri="{FF2B5EF4-FFF2-40B4-BE49-F238E27FC236}">
                <a16:creationId xmlns:a16="http://schemas.microsoft.com/office/drawing/2014/main" id="{ACBB8FE9-3144-48E1-95CF-90D5B62FCF3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Text Placeholder 2">
            <a:extLst>
              <a:ext uri="{FF2B5EF4-FFF2-40B4-BE49-F238E27FC236}">
                <a16:creationId xmlns:a16="http://schemas.microsoft.com/office/drawing/2014/main" id="{522E3450-16DE-4320-9333-12326883D9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A9D162-5A09-4530-B28F-231F261B78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1489033D-2343-4DBD-93C2-500D6EFBAB34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CA21D-7A85-4DC2-9D2A-0D6F63854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3CFC4-0EB8-4829-B813-4E231F551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35F31E7A-8719-4737-A972-44D21473F6A1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3079" name="Picture 6" descr="GenBackground2.jpg">
            <a:extLst>
              <a:ext uri="{FF2B5EF4-FFF2-40B4-BE49-F238E27FC236}">
                <a16:creationId xmlns:a16="http://schemas.microsoft.com/office/drawing/2014/main" id="{B4EC3CCC-926B-4AEB-84EC-7BA5870C4B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60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Placeholder 1">
            <a:extLst>
              <a:ext uri="{FF2B5EF4-FFF2-40B4-BE49-F238E27FC236}">
                <a16:creationId xmlns:a16="http://schemas.microsoft.com/office/drawing/2014/main" id="{2365D9B5-E510-4476-AF80-39A6CDFE11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Text Placeholder 2">
            <a:extLst>
              <a:ext uri="{FF2B5EF4-FFF2-40B4-BE49-F238E27FC236}">
                <a16:creationId xmlns:a16="http://schemas.microsoft.com/office/drawing/2014/main" id="{571DB1BA-BC1A-48ED-83C9-803FB1EEA2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90F7B-A56B-4F22-86D5-554831F8A3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CA81765A-6E6E-4A74-961F-04D0B213FF3E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69F0D-B087-4ECD-B6F0-1A38908C0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927CA-636A-4A43-B2CE-C1AE474B0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F733C12D-4865-425C-9522-7A1CEDE07B59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4103" name="Picture 6" descr="GenBackground4.jpg">
            <a:extLst>
              <a:ext uri="{FF2B5EF4-FFF2-40B4-BE49-F238E27FC236}">
                <a16:creationId xmlns:a16="http://schemas.microsoft.com/office/drawing/2014/main" id="{C6350532-9409-45C5-99C5-F4C34326841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60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Placeholder 1">
            <a:extLst>
              <a:ext uri="{FF2B5EF4-FFF2-40B4-BE49-F238E27FC236}">
                <a16:creationId xmlns:a16="http://schemas.microsoft.com/office/drawing/2014/main" id="{EF40AF55-BCB0-4BA1-9984-D01391917C0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3" name="Text Placeholder 2">
            <a:extLst>
              <a:ext uri="{FF2B5EF4-FFF2-40B4-BE49-F238E27FC236}">
                <a16:creationId xmlns:a16="http://schemas.microsoft.com/office/drawing/2014/main" id="{060CDD73-722A-4CD1-AD2A-BD9800BB17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901FA3-A37A-403B-8273-0A0A440166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614C501F-7830-4203-A9C5-282ECCEFC4F7}" type="datetimeFigureOut">
              <a:rPr lang="en-US" altLang="en-US"/>
              <a:pPr/>
              <a:t>9/3/2025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2565B5-80F4-4B43-89D5-2F137EA54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mtClean="0">
                <a:solidFill>
                  <a:schemeClr val="tx1">
                    <a:tint val="75000"/>
                  </a:schemeClr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CFE557-88E2-4276-A6EA-B90C3D11B8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3C97D2EA-1DDE-432A-B908-8AF4CE12B806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5127" name="Picture 6" descr="GenBackground3.jpg">
            <a:extLst>
              <a:ext uri="{FF2B5EF4-FFF2-40B4-BE49-F238E27FC236}">
                <a16:creationId xmlns:a16="http://schemas.microsoft.com/office/drawing/2014/main" id="{ACFAD57C-E18D-49E8-882A-AC37538F485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36063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>
            <a:extLst>
              <a:ext uri="{FF2B5EF4-FFF2-40B4-BE49-F238E27FC236}">
                <a16:creationId xmlns:a16="http://schemas.microsoft.com/office/drawing/2014/main" id="{9DBAF1C2-9FB6-4290-AD3E-99D6A9314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0360" y="418794"/>
            <a:ext cx="5577840" cy="1554479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CMSC 603</a:t>
            </a:r>
            <a:br>
              <a:rPr lang="en-US" altLang="en-US" dirty="0">
                <a:solidFill>
                  <a:schemeClr val="bg1"/>
                </a:solidFill>
              </a:rPr>
            </a:br>
            <a:r>
              <a:rPr lang="en-US" altLang="en-US" dirty="0">
                <a:solidFill>
                  <a:schemeClr val="bg1"/>
                </a:solidFill>
              </a:rPr>
              <a:t>High-Performance 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CDDD7-DDB7-43AE-BECD-19516B258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3260" y="2398088"/>
            <a:ext cx="4892040" cy="72771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/>
              <a:buNone/>
              <a:defRPr/>
            </a:pPr>
            <a:r>
              <a:rPr lang="en-US" dirty="0">
                <a:solidFill>
                  <a:schemeClr val="bg1"/>
                </a:solidFill>
                <a:latin typeface="+mj-lt"/>
                <a:ea typeface="+mn-ea"/>
              </a:rPr>
              <a:t>MPI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FECE5-4D6B-49DE-9441-EFA9D6C573F0}"/>
              </a:ext>
            </a:extLst>
          </p:cNvPr>
          <p:cNvSpPr txBox="1"/>
          <p:nvPr/>
        </p:nvSpPr>
        <p:spPr>
          <a:xfrm>
            <a:off x="4783204" y="3468349"/>
            <a:ext cx="401981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Dr. Preetam Ghosh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Professor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Department of Computer Science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pghosh@vcu.edu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373633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MPI (Message Passing Interface)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Standardized message-passing library for C/C++/Fortran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Standard for communication among processes running on a distributed system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Message passing between processes in the same or different machines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Low-level of abstraction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On </a:t>
            </a:r>
            <a:r>
              <a:rPr lang="en-US" b="1" dirty="0"/>
              <a:t>maple.cs.vcu.edu </a:t>
            </a:r>
            <a:r>
              <a:rPr lang="en-US" dirty="0"/>
              <a:t>MPI is loaded by default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On </a:t>
            </a:r>
            <a:r>
              <a:rPr lang="en-US" b="1" dirty="0"/>
              <a:t>athena.hprc.vcu.edu </a:t>
            </a:r>
            <a:r>
              <a:rPr lang="en-US" dirty="0"/>
              <a:t>MPI must be loaded using</a:t>
            </a:r>
            <a:br>
              <a:rPr lang="en-US" dirty="0"/>
            </a:br>
            <a:r>
              <a:rPr lang="en-US" dirty="0"/>
              <a:t>    </a:t>
            </a:r>
            <a:r>
              <a:rPr lang="en-US" sz="1600" i="1" dirty="0"/>
              <a:t>$</a:t>
            </a:r>
            <a:r>
              <a:rPr lang="en-US" i="1" dirty="0"/>
              <a:t> module load </a:t>
            </a:r>
            <a:r>
              <a:rPr lang="en-US" i="1" dirty="0" err="1"/>
              <a:t>mpi</a:t>
            </a:r>
            <a:r>
              <a:rPr lang="en-US" i="1" dirty="0"/>
              <a:t>/openmpi-4.1.6</a:t>
            </a:r>
            <a:br>
              <a:rPr lang="en-US" i="1" dirty="0"/>
            </a:br>
            <a:r>
              <a:rPr lang="en-US" i="1" dirty="0"/>
              <a:t>	</a:t>
            </a:r>
            <a:r>
              <a:rPr lang="en-US" dirty="0"/>
              <a:t>  Next class we’ll see how to Slurm + MPI</a:t>
            </a:r>
            <a:r>
              <a:rPr lang="en-US" i="1" dirty="0"/>
              <a:t>  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BC38C2-ABC6-4E43-A56D-44079EFC6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44" y="2530097"/>
            <a:ext cx="2505433" cy="1244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DD2854-B1E1-47C9-AE5A-493233F20E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9602" y="3854598"/>
            <a:ext cx="2304179" cy="1244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73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3318857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Some definitions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Distribution of the work and data into </a:t>
            </a:r>
            <a:r>
              <a:rPr lang="en-US" b="1" dirty="0"/>
              <a:t>multiple distributed programs </a:t>
            </a:r>
            <a:r>
              <a:rPr lang="en-US" dirty="0"/>
              <a:t>are based on the </a:t>
            </a:r>
            <a:r>
              <a:rPr lang="en-US" b="1" dirty="0"/>
              <a:t>rank</a:t>
            </a:r>
            <a:r>
              <a:rPr lang="en-US" dirty="0"/>
              <a:t> (process identification number)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Group</a:t>
            </a:r>
            <a:r>
              <a:rPr lang="en-US" dirty="0"/>
              <a:t>: group of processes that communicate with one another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Communicator</a:t>
            </a:r>
            <a:r>
              <a:rPr lang="en-US" dirty="0"/>
              <a:t>: scope of a communication operation, i.e., the group of processes involved and the context.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MPI_COMM_WORLD</a:t>
            </a:r>
            <a:r>
              <a:rPr lang="en-US" dirty="0"/>
              <a:t> by default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Context</a:t>
            </a:r>
            <a:r>
              <a:rPr lang="en-US" dirty="0"/>
              <a:t>: prevents an operation on one communicator from matching with a similar operation on another communicator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8E494C9C-2473-4E17-B851-F4A2AFFDF833}"/>
              </a:ext>
            </a:extLst>
          </p:cNvPr>
          <p:cNvGrpSpPr/>
          <p:nvPr/>
        </p:nvGrpSpPr>
        <p:grpSpPr>
          <a:xfrm>
            <a:off x="2742913" y="3709372"/>
            <a:ext cx="4318949" cy="1301859"/>
            <a:chOff x="3260618" y="4779010"/>
            <a:chExt cx="6319834" cy="1904985"/>
          </a:xfrm>
        </p:grpSpPr>
        <p:sp>
          <p:nvSpPr>
            <p:cNvPr id="13" name="Cloud 12">
              <a:extLst>
                <a:ext uri="{FF2B5EF4-FFF2-40B4-BE49-F238E27FC236}">
                  <a16:creationId xmlns:a16="http://schemas.microsoft.com/office/drawing/2014/main" id="{5696F42F-F4DC-47C1-9059-83A47C8964E4}"/>
                </a:ext>
              </a:extLst>
            </p:cNvPr>
            <p:cNvSpPr/>
            <p:nvPr/>
          </p:nvSpPr>
          <p:spPr>
            <a:xfrm>
              <a:off x="4866863" y="4946635"/>
              <a:ext cx="3090672" cy="1737360"/>
            </a:xfrm>
            <a:prstGeom prst="clou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F913D03-FFAE-4954-A63E-96C102A83CC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928" y="5346310"/>
              <a:ext cx="918222" cy="918222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8C73176-9AA4-4C30-8F26-A49892117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62851" y="5234671"/>
              <a:ext cx="918222" cy="91822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CF55F99-2FAD-4EC3-977B-256B9AC35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60618" y="5382136"/>
              <a:ext cx="918222" cy="918222"/>
            </a:xfrm>
            <a:prstGeom prst="rect">
              <a:avLst/>
            </a:prstGeom>
          </p:spPr>
        </p:pic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1D99B719-A90D-4793-983F-85D7500E9E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38819" y="5841247"/>
              <a:ext cx="508086" cy="98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Cloud 17">
              <a:extLst>
                <a:ext uri="{FF2B5EF4-FFF2-40B4-BE49-F238E27FC236}">
                  <a16:creationId xmlns:a16="http://schemas.microsoft.com/office/drawing/2014/main" id="{CE2C8B71-0305-4A6D-8346-9DFA245A787D}"/>
                </a:ext>
              </a:extLst>
            </p:cNvPr>
            <p:cNvSpPr/>
            <p:nvPr/>
          </p:nvSpPr>
          <p:spPr>
            <a:xfrm>
              <a:off x="6489780" y="4779010"/>
              <a:ext cx="3090672" cy="1737360"/>
            </a:xfrm>
            <a:prstGeom prst="cloud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99C6F2B-EF96-4D2E-A767-71164AC65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94165" y="5112766"/>
              <a:ext cx="918222" cy="9182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10797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1677382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Hello World! MPI Context initialization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Compile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mpicc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hello.c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-o hello  </a:t>
            </a:r>
            <a:r>
              <a:rPr lang="en-US" dirty="0">
                <a:cs typeface="Courier New" panose="02070309020205020404" pitchFamily="49" charset="0"/>
              </a:rPr>
              <a:t>(</a:t>
            </a:r>
            <a:r>
              <a:rPr lang="en-US" dirty="0" err="1">
                <a:cs typeface="Courier New" panose="02070309020205020404" pitchFamily="49" charset="0"/>
              </a:rPr>
              <a:t>mpicxx</a:t>
            </a:r>
            <a:r>
              <a:rPr lang="en-US" dirty="0">
                <a:cs typeface="Courier New" panose="02070309020205020404" pitchFamily="49" charset="0"/>
              </a:rPr>
              <a:t> for C++)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Execute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mpirun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-np 8 hello  </a:t>
            </a:r>
            <a:r>
              <a:rPr lang="en-US" sz="1600" dirty="0">
                <a:cs typeface="Courier New" panose="02070309020205020404" pitchFamily="49" charset="0"/>
              </a:rPr>
              <a:t>(-np number processes) on </a:t>
            </a:r>
            <a:r>
              <a:rPr lang="en-US" sz="1600" b="1" dirty="0">
                <a:cs typeface="Courier New" panose="02070309020205020404" pitchFamily="49" charset="0"/>
              </a:rPr>
              <a:t>maple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Execute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mpirun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-oversubscribe -np 64 hello </a:t>
            </a:r>
            <a:r>
              <a:rPr lang="en-US" sz="1600" dirty="0">
                <a:cs typeface="Courier New" panose="02070309020205020404" pitchFamily="49" charset="0"/>
              </a:rPr>
              <a:t>(np &gt; cores) on </a:t>
            </a:r>
            <a:r>
              <a:rPr lang="en-US" sz="1600" b="1" dirty="0">
                <a:cs typeface="Courier New" panose="02070309020205020404" pitchFamily="49" charset="0"/>
              </a:rPr>
              <a:t>maple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84848B-5085-4170-9AA5-A13958A5073E}"/>
              </a:ext>
            </a:extLst>
          </p:cNvPr>
          <p:cNvSpPr/>
          <p:nvPr/>
        </p:nvSpPr>
        <p:spPr>
          <a:xfrm>
            <a:off x="1247616" y="2326751"/>
            <a:ext cx="6108356" cy="26314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mpi.h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 (int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char *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[])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int rank, size;</a:t>
            </a:r>
          </a:p>
          <a:p>
            <a:endParaRPr 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/* Start MPI */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MPI_Init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(&amp;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);	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/* Get current process id */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MPI_Comm_rank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(MPI_COMM_WORLD, &amp;rank);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/* Get number of processes */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MPI_Comm_size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(MPI_COMM_WORLD, &amp;size);	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("Hello world from process %d of %d\n", rank, size);</a:t>
            </a:r>
          </a:p>
          <a:p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1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MPI_Finalize</a:t>
            </a:r>
            <a:r>
              <a:rPr lang="en-US" sz="1100" b="1" dirty="0"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8116C7-2FC5-465B-947B-9C6472610DC1}"/>
              </a:ext>
            </a:extLst>
          </p:cNvPr>
          <p:cNvSpPr/>
          <p:nvPr/>
        </p:nvSpPr>
        <p:spPr>
          <a:xfrm>
            <a:off x="5120923" y="2405243"/>
            <a:ext cx="20969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spcAft>
                <a:spcPts val="1000"/>
              </a:spcAft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hello.c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651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555093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Message Passing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Messages among processes are handled via send/receive calls </a:t>
            </a:r>
          </a:p>
          <a:p>
            <a:pPr marL="800100" lvl="1" indent="-342900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Communication modes:</a:t>
            </a:r>
          </a:p>
          <a:p>
            <a:pPr marL="3086100" lvl="6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MPI_Send</a:t>
            </a:r>
            <a:r>
              <a:rPr lang="en-US" dirty="0"/>
              <a:t>. Standard send. Completes when message is just sent (receive state is unknown)</a:t>
            </a:r>
          </a:p>
          <a:p>
            <a:pPr marL="3086100" lvl="6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MPI_Recv</a:t>
            </a:r>
            <a:r>
              <a:rPr lang="en-US" dirty="0"/>
              <a:t>. Receives a message and blocks until a message has arrived</a:t>
            </a:r>
          </a:p>
          <a:p>
            <a:pPr marL="3086100" lvl="6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 err="1"/>
              <a:t>MPI_Ssend</a:t>
            </a:r>
            <a:r>
              <a:rPr lang="en-US" dirty="0"/>
              <a:t>. Synchronous blocking send. Completes when the message has been </a:t>
            </a:r>
            <a:r>
              <a:rPr lang="en-US" b="1" dirty="0"/>
              <a:t>received</a:t>
            </a:r>
            <a:r>
              <a:rPr lang="en-US" dirty="0"/>
              <a:t> by the other process.</a:t>
            </a:r>
          </a:p>
          <a:p>
            <a:pPr marL="3086100" lvl="6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Many other non-blocking , buffered, and asynchronous modes available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F598D03-AFD9-4779-8DF0-22852EF0C6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2231898"/>
            <a:ext cx="2111251" cy="279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14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001095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dirty="0"/>
              <a:t>MPI Tags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Messages are sent with an accompanying user-defined integer TAG, to assist the receiving progress in identifying the message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Messages can be screened at the receiving end by specifying a tag, or not screened by specifying </a:t>
            </a:r>
            <a:r>
              <a:rPr lang="en-US" i="1" dirty="0"/>
              <a:t>MPI_ANY_TAG</a:t>
            </a:r>
            <a:r>
              <a:rPr lang="en-US" dirty="0"/>
              <a:t> as in tag in a receive</a:t>
            </a:r>
          </a:p>
          <a:p>
            <a:pPr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r>
              <a:rPr lang="en-US" dirty="0"/>
              <a:t>MPI Datatypes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The data in a message to send or receive is described by a </a:t>
            </a:r>
            <a:br>
              <a:rPr lang="en-US" dirty="0"/>
            </a:br>
            <a:r>
              <a:rPr lang="en-US" b="1" dirty="0"/>
              <a:t>triple</a:t>
            </a:r>
            <a:r>
              <a:rPr lang="en-US" dirty="0"/>
              <a:t> (address + count + datatype) </a:t>
            </a:r>
            <a:br>
              <a:rPr lang="en-US" dirty="0"/>
            </a:br>
            <a:r>
              <a:rPr lang="en-US" dirty="0"/>
              <a:t>where the datatype matches the following, e.g.:</a:t>
            </a:r>
          </a:p>
          <a:p>
            <a:pPr lvl="1">
              <a:spcAft>
                <a:spcPts val="1000"/>
              </a:spcAft>
            </a:pPr>
            <a:r>
              <a:rPr lang="en-US" dirty="0"/>
              <a:t>MPI_CHAR, MPI_SHORT, MPI_INT, MPI_LONG, MPI_FLOAT, MPI_DOUBLE, </a:t>
            </a:r>
            <a:r>
              <a:rPr lang="en-US" dirty="0" err="1"/>
              <a:t>etc</a:t>
            </a:r>
            <a:endParaRPr lang="en-US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633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652556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dirty="0"/>
              <a:t>MPI SEND</a:t>
            </a:r>
          </a:p>
          <a:p>
            <a:pPr lvl="1">
              <a:spcAft>
                <a:spcPts val="1000"/>
              </a:spcAft>
            </a:pPr>
            <a:r>
              <a:rPr lang="en-US" dirty="0" err="1"/>
              <a:t>MPI_Send</a:t>
            </a:r>
            <a:r>
              <a:rPr lang="en-US" dirty="0"/>
              <a:t>(*start, count, datatype, destination, tag, comm)</a:t>
            </a:r>
          </a:p>
          <a:p>
            <a:pPr lvl="1">
              <a:spcAft>
                <a:spcPts val="1000"/>
              </a:spcAft>
            </a:pPr>
            <a:endParaRPr lang="en-US"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start: memory position where the message begins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count: number of elements in the message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datatype: type of data, MPI_CHAR, MPI_FLOAT, </a:t>
            </a:r>
            <a:r>
              <a:rPr lang="en-US" dirty="0" err="1"/>
              <a:t>etc</a:t>
            </a:r>
            <a:endParaRPr lang="en-US"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destination: </a:t>
            </a:r>
            <a:r>
              <a:rPr lang="en-US" b="1" dirty="0"/>
              <a:t>rank</a:t>
            </a:r>
            <a:r>
              <a:rPr lang="en-US" dirty="0"/>
              <a:t> of the target process in the communicator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tag: sequence number or label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comm: object communicator, default MPI_COMM_WORLD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Important</a:t>
            </a:r>
            <a:r>
              <a:rPr lang="en-US" dirty="0"/>
              <a:t>! </a:t>
            </a:r>
            <a:r>
              <a:rPr lang="en-US" dirty="0" err="1"/>
              <a:t>MPI_Send</a:t>
            </a:r>
            <a:r>
              <a:rPr lang="en-US" dirty="0"/>
              <a:t> does not wait until message is received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534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652556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dirty="0"/>
              <a:t>MPI RECEIVE</a:t>
            </a:r>
          </a:p>
          <a:p>
            <a:pPr lvl="1">
              <a:spcAft>
                <a:spcPts val="1000"/>
              </a:spcAft>
            </a:pPr>
            <a:r>
              <a:rPr lang="en-US" dirty="0" err="1"/>
              <a:t>MPI_Recv</a:t>
            </a:r>
            <a:r>
              <a:rPr lang="en-US" dirty="0"/>
              <a:t>(*start, count, datatype, source, tag, comm, status)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lvl="1">
              <a:spcAft>
                <a:spcPts val="1000"/>
              </a:spcAft>
            </a:pPr>
            <a:r>
              <a:rPr lang="en-US" dirty="0"/>
              <a:t>Waits until a matching (source </a:t>
            </a:r>
            <a:r>
              <a:rPr lang="en-US" b="1" dirty="0"/>
              <a:t>AND</a:t>
            </a:r>
            <a:r>
              <a:rPr lang="en-US" dirty="0"/>
              <a:t> tag) message is received</a:t>
            </a:r>
          </a:p>
          <a:p>
            <a:pPr lvl="1">
              <a:spcAft>
                <a:spcPts val="1000"/>
              </a:spcAft>
            </a:pPr>
            <a:endParaRPr lang="en-US"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start: memory position where the message is stored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count: maximum number of elements in receive buffer (integer)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source: </a:t>
            </a:r>
            <a:r>
              <a:rPr lang="en-US" b="1" dirty="0"/>
              <a:t>rank</a:t>
            </a:r>
            <a:r>
              <a:rPr lang="en-US" dirty="0"/>
              <a:t> of the sending process or </a:t>
            </a:r>
            <a:r>
              <a:rPr lang="en-US" i="1" dirty="0"/>
              <a:t>MPI_ANY_SOURCE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tag: sequence number or </a:t>
            </a:r>
            <a:r>
              <a:rPr lang="en-US" i="1" dirty="0"/>
              <a:t>MPI_ANY_TAG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status: contains additional information (e.g. actual count)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Receiving fewer than </a:t>
            </a:r>
            <a:r>
              <a:rPr lang="en-US" i="1" dirty="0"/>
              <a:t>count</a:t>
            </a:r>
            <a:r>
              <a:rPr lang="en-US" dirty="0"/>
              <a:t> is OK, but receiving more overflows the buffer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7112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119076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dirty="0"/>
              <a:t>MPI STATUS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Status is a data structure allocated in the user’s program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Allows to retrieve the </a:t>
            </a:r>
            <a:r>
              <a:rPr lang="en-US" b="1" dirty="0"/>
              <a:t>tag</a:t>
            </a:r>
            <a:r>
              <a:rPr lang="en-US" dirty="0"/>
              <a:t>, </a:t>
            </a:r>
            <a:r>
              <a:rPr lang="en-US" b="1" dirty="0"/>
              <a:t>source</a:t>
            </a:r>
            <a:r>
              <a:rPr lang="en-US" dirty="0"/>
              <a:t> and </a:t>
            </a:r>
            <a:r>
              <a:rPr lang="en-US" b="1" dirty="0"/>
              <a:t>count</a:t>
            </a:r>
            <a:r>
              <a:rPr lang="en-US" dirty="0"/>
              <a:t> of the message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spcAft>
                <a:spcPts val="1000"/>
              </a:spcAft>
            </a:pPr>
            <a:r>
              <a:rPr lang="en-US" dirty="0"/>
              <a:t>Synchronous blocking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MPI_Send</a:t>
            </a:r>
            <a:r>
              <a:rPr lang="en-US" dirty="0"/>
              <a:t> and </a:t>
            </a:r>
            <a:r>
              <a:rPr lang="en-US" dirty="0" err="1"/>
              <a:t>MPI_Recv</a:t>
            </a:r>
            <a:r>
              <a:rPr lang="en-US" dirty="0"/>
              <a:t> are blocking, which means they will wait until the message has been sent and received, respectively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MPI_Ssend</a:t>
            </a:r>
            <a:r>
              <a:rPr lang="en-US" dirty="0"/>
              <a:t> also waits for the confirmation message is received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A1FD1D7-FEAF-41A8-83AA-EE976C0AAD27}"/>
              </a:ext>
            </a:extLst>
          </p:cNvPr>
          <p:cNvSpPr/>
          <p:nvPr/>
        </p:nvSpPr>
        <p:spPr>
          <a:xfrm>
            <a:off x="1258964" y="1986340"/>
            <a:ext cx="6970636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recvd_tag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recvd_from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recvd_count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recvd_tag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status.MPI_TAG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recvd_from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status.MPI_SOURCE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MPI_Get_count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(&amp;status, datatype, &amp;</a:t>
            </a:r>
            <a:r>
              <a:rPr lang="en-US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recvd_count</a:t>
            </a:r>
            <a:r>
              <a:rPr 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3810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61665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Hello World! Communication between two processes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F899CF-0D7F-4D54-ACB6-46D14EE841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12" t="8551"/>
          <a:stretch/>
        </p:blipFill>
        <p:spPr>
          <a:xfrm>
            <a:off x="491602" y="1051553"/>
            <a:ext cx="7960782" cy="40005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61F1D6-3858-419F-801A-D27288EE0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5219" y="685682"/>
            <a:ext cx="2360656" cy="132983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401F439-E37A-4FED-AF4E-3C4311DDE6DF}"/>
              </a:ext>
            </a:extLst>
          </p:cNvPr>
          <p:cNvSpPr/>
          <p:nvPr/>
        </p:nvSpPr>
        <p:spPr>
          <a:xfrm>
            <a:off x="6797335" y="2235901"/>
            <a:ext cx="2226039" cy="7745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hello2.c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hello3.c</a:t>
            </a:r>
          </a:p>
        </p:txBody>
      </p:sp>
    </p:spTree>
    <p:extLst>
      <p:ext uri="{BB962C8B-B14F-4D97-AF65-F5344CB8AC3E}">
        <p14:creationId xmlns:p14="http://schemas.microsoft.com/office/powerpoint/2010/main" val="1177092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3693319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dirty="0"/>
              <a:t>Nonblocking message passing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Nonblocking instructions always return immediately</a:t>
            </a:r>
          </a:p>
          <a:p>
            <a:pPr marL="800100" lvl="1" indent="-34290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Messages are stored in a buffer. </a:t>
            </a:r>
            <a:r>
              <a:rPr lang="en-US" b="1" dirty="0"/>
              <a:t>WARNING</a:t>
            </a:r>
            <a:r>
              <a:rPr lang="en-US" dirty="0"/>
              <a:t>: Data in the send buffer subject to change before completely transmitted!!</a:t>
            </a:r>
          </a:p>
          <a:p>
            <a:pPr marL="800100" lvl="1" indent="-34290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MPI_Isend</a:t>
            </a:r>
            <a:r>
              <a:rPr lang="en-US" dirty="0"/>
              <a:t>() and </a:t>
            </a:r>
            <a:r>
              <a:rPr lang="en-US" dirty="0" err="1"/>
              <a:t>MPI_Irecv</a:t>
            </a:r>
            <a:r>
              <a:rPr lang="en-US" dirty="0"/>
              <a:t>() are asynchronous nonblocking calls</a:t>
            </a:r>
          </a:p>
          <a:p>
            <a:pPr marL="800100" lvl="1" indent="-34290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The program does not stop for completing a </a:t>
            </a:r>
            <a:r>
              <a:rPr lang="en-US" dirty="0" err="1"/>
              <a:t>Isend</a:t>
            </a:r>
            <a:r>
              <a:rPr lang="en-US" dirty="0"/>
              <a:t>/</a:t>
            </a:r>
            <a:r>
              <a:rPr lang="en-US" dirty="0" err="1"/>
              <a:t>Irecv</a:t>
            </a:r>
            <a:r>
              <a:rPr lang="en-US" dirty="0"/>
              <a:t>, a communication request </a:t>
            </a:r>
            <a:r>
              <a:rPr lang="en-US" b="1" dirty="0"/>
              <a:t>handle</a:t>
            </a:r>
            <a:r>
              <a:rPr lang="en-US" dirty="0"/>
              <a:t> is returned for handling pending messages</a:t>
            </a:r>
          </a:p>
          <a:p>
            <a:pPr marL="800100" lvl="1" indent="-342900"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MPI_Wait</a:t>
            </a:r>
            <a:r>
              <a:rPr lang="en-US" dirty="0"/>
              <a:t>() or </a:t>
            </a:r>
            <a:r>
              <a:rPr lang="en-US" dirty="0" err="1"/>
              <a:t>MPI_Test</a:t>
            </a:r>
            <a:r>
              <a:rPr lang="en-US" dirty="0"/>
              <a:t>() to sync / determine when message is sent / received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69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4596130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dirty="0"/>
              <a:t>Nonblocking message passing API</a:t>
            </a:r>
          </a:p>
          <a:p>
            <a:pPr lvl="1">
              <a:spcAft>
                <a:spcPts val="1000"/>
              </a:spcAft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MPI_Isend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(const void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int count,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MPI_Datatype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datatype, 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     int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int tag,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MPI_Comm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comm,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MPI_Request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*request)</a:t>
            </a:r>
          </a:p>
          <a:p>
            <a:pPr lvl="1">
              <a:spcAft>
                <a:spcPts val="1000"/>
              </a:spcAft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000"/>
              </a:spcAft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MPI_Irecv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(void *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buf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int count,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MPI_Datatype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datatype,</a:t>
            </a:r>
            <a:b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	int source, int tag,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MPI_Comm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comm,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MPI_Request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*request)</a:t>
            </a:r>
          </a:p>
          <a:p>
            <a:pPr lvl="1">
              <a:spcAft>
                <a:spcPts val="1000"/>
              </a:spcAft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000"/>
              </a:spcAft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MPI_Test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MPI_Request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*request, int *flag,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*status)</a:t>
            </a:r>
          </a:p>
          <a:p>
            <a:pPr lvl="1">
              <a:spcAft>
                <a:spcPts val="1000"/>
              </a:spcAft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000"/>
              </a:spcAft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MPI_Wait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MPI_Request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*request,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MPI_Status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*status)</a:t>
            </a:r>
          </a:p>
          <a:p>
            <a:pPr lvl="1">
              <a:spcAft>
                <a:spcPts val="1000"/>
              </a:spcAft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000"/>
              </a:spcAft>
            </a:pPr>
            <a:r>
              <a:rPr lang="en-US" dirty="0">
                <a:cs typeface="Courier New" panose="02070309020205020404" pitchFamily="49" charset="0"/>
              </a:rPr>
              <a:t>Extended functions</a:t>
            </a:r>
          </a:p>
          <a:p>
            <a:pPr lvl="1">
              <a:spcAft>
                <a:spcPts val="1000"/>
              </a:spcAft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MPI_Testany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MPI_Testall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MPI_Testsome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spcAft>
                <a:spcPts val="1000"/>
              </a:spcAft>
            </a:pP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MPI_Waitany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MPI_Waitall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MPI_Waitsome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8" name="Picture 2" descr="https://imgflip.com/s/meme/Jackie-Chan-WTF.jpg">
            <a:extLst>
              <a:ext uri="{FF2B5EF4-FFF2-40B4-BE49-F238E27FC236}">
                <a16:creationId xmlns:a16="http://schemas.microsoft.com/office/drawing/2014/main" id="{8BE7D1D5-35AA-4A45-A77A-49C41553DD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856" y="3170420"/>
            <a:ext cx="2076683" cy="155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C219A3A-4F77-4FDA-A514-6BE09AACEDD2}"/>
              </a:ext>
            </a:extLst>
          </p:cNvPr>
          <p:cNvSpPr/>
          <p:nvPr/>
        </p:nvSpPr>
        <p:spPr>
          <a:xfrm>
            <a:off x="5823040" y="4727932"/>
            <a:ext cx="3238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r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nonblocking.c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698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2646878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dirty="0"/>
              <a:t>Collective communication routines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Synchronization</a:t>
            </a:r>
            <a:r>
              <a:rPr lang="en-US" dirty="0"/>
              <a:t> (barrier): processes wait until all members of the group have reached the synchronization point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Data movement</a:t>
            </a:r>
            <a:r>
              <a:rPr lang="en-US" dirty="0"/>
              <a:t>: broadcast, scatter, gather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Collective computation </a:t>
            </a:r>
            <a:r>
              <a:rPr lang="en-US" dirty="0"/>
              <a:t>(reductions): one member of the group collects data from the other members and performs an operation (min, max, add, multiply, etc.) on that data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DF6F0A-8645-430A-B8AC-7BA72A31C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759" y="3148012"/>
            <a:ext cx="2955999" cy="1947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959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1005403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en-US" dirty="0"/>
              <a:t>Barrier synchronization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MPI_Barrier</a:t>
            </a:r>
            <a:r>
              <a:rPr lang="en-US" dirty="0"/>
              <a:t> (comm) creates a barrier synchronization in a group</a:t>
            </a:r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8" name="Picture 2" descr="MPI_Barrier example">
            <a:extLst>
              <a:ext uri="{FF2B5EF4-FFF2-40B4-BE49-F238E27FC236}">
                <a16:creationId xmlns:a16="http://schemas.microsoft.com/office/drawing/2014/main" id="{6F12C0A1-C6F2-4300-B19D-0D86C347A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751" y="1747896"/>
            <a:ext cx="3133725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6673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2082621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Broadcast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MPI_Bcast</a:t>
            </a:r>
            <a:r>
              <a:rPr lang="en-US" dirty="0"/>
              <a:t> (*buffer, count, datatype, rank, comm)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Process identified by rank sends a message to all the other processes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The buffer will contain the message in every process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cs typeface="Calibri" panose="020F0502020204030204" pitchFamily="34" charset="0"/>
              </a:rPr>
              <a:t>Example</a:t>
            </a:r>
            <a:r>
              <a:rPr lang="en-US" dirty="0">
                <a:cs typeface="Calibri" panose="020F0502020204030204" pitchFamily="34" charset="0"/>
              </a:rPr>
              <a:t>: </a:t>
            </a:r>
            <a:r>
              <a:rPr lang="en-US" dirty="0" err="1">
                <a:cs typeface="Calibri" panose="020F0502020204030204" pitchFamily="34" charset="0"/>
              </a:rPr>
              <a:t>bcast.c</a:t>
            </a:r>
            <a:endParaRPr lang="en-US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6257B9-0F18-49B2-BD87-3A3C3D268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582" y="2418615"/>
            <a:ext cx="3589945" cy="2438564"/>
          </a:xfrm>
          <a:prstGeom prst="rect">
            <a:avLst/>
          </a:prstGeom>
        </p:spPr>
      </p:pic>
      <p:pic>
        <p:nvPicPr>
          <p:cNvPr id="1026" name="Picture 2" descr="MPI_Bcast vs MPI_Scatter">
            <a:extLst>
              <a:ext uri="{FF2B5EF4-FFF2-40B4-BE49-F238E27FC236}">
                <a16:creationId xmlns:a16="http://schemas.microsoft.com/office/drawing/2014/main" id="{67D97FC4-9B47-4430-977D-18DC9C9FEA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045"/>
          <a:stretch/>
        </p:blipFill>
        <p:spPr bwMode="auto">
          <a:xfrm>
            <a:off x="829473" y="2943078"/>
            <a:ext cx="2286000" cy="124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381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1654299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Scatter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700" dirty="0" err="1"/>
              <a:t>MPI_Scatter</a:t>
            </a:r>
            <a:r>
              <a:rPr lang="en-US" sz="1700" dirty="0"/>
              <a:t> (*</a:t>
            </a:r>
            <a:r>
              <a:rPr lang="en-US" sz="1700" dirty="0" err="1"/>
              <a:t>sendbuf</a:t>
            </a:r>
            <a:r>
              <a:rPr lang="en-US" sz="1700" dirty="0"/>
              <a:t>, </a:t>
            </a:r>
            <a:r>
              <a:rPr lang="en-US" sz="1700" dirty="0" err="1"/>
              <a:t>sendcnt</a:t>
            </a:r>
            <a:r>
              <a:rPr lang="en-US" sz="1700" dirty="0"/>
              <a:t>, </a:t>
            </a:r>
            <a:r>
              <a:rPr lang="en-US" sz="1700" dirty="0" err="1"/>
              <a:t>sendtype</a:t>
            </a:r>
            <a:r>
              <a:rPr lang="en-US" sz="1700" dirty="0"/>
              <a:t>, *</a:t>
            </a:r>
            <a:r>
              <a:rPr lang="en-US" sz="1700" dirty="0" err="1"/>
              <a:t>recvbuf</a:t>
            </a:r>
            <a:r>
              <a:rPr lang="en-US" sz="1700" dirty="0"/>
              <a:t>, </a:t>
            </a:r>
            <a:r>
              <a:rPr lang="en-US" sz="1700" dirty="0" err="1"/>
              <a:t>recvcnt</a:t>
            </a:r>
            <a:r>
              <a:rPr lang="en-US" sz="1700" dirty="0"/>
              <a:t>, </a:t>
            </a:r>
            <a:r>
              <a:rPr lang="en-US" sz="1700" dirty="0" err="1"/>
              <a:t>recvtype</a:t>
            </a:r>
            <a:r>
              <a:rPr lang="en-US" sz="1700" dirty="0"/>
              <a:t>, root, comm)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Distributes distinct messages to each task in the group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cs typeface="Calibri" panose="020F0502020204030204" pitchFamily="34" charset="0"/>
              </a:rPr>
              <a:t>Example</a:t>
            </a:r>
            <a:r>
              <a:rPr lang="en-US" dirty="0">
                <a:cs typeface="Calibri" panose="020F0502020204030204" pitchFamily="34" charset="0"/>
              </a:rPr>
              <a:t>: </a:t>
            </a:r>
            <a:r>
              <a:rPr lang="en-US" dirty="0" err="1">
                <a:cs typeface="Calibri" panose="020F0502020204030204" pitchFamily="34" charset="0"/>
              </a:rPr>
              <a:t>scatter.c</a:t>
            </a:r>
            <a:endParaRPr lang="en-US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CC2AB8-4A4E-4834-83E0-4078A5F42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6790" y="2040249"/>
            <a:ext cx="2877948" cy="2906303"/>
          </a:xfrm>
          <a:prstGeom prst="rect">
            <a:avLst/>
          </a:prstGeom>
        </p:spPr>
      </p:pic>
      <p:pic>
        <p:nvPicPr>
          <p:cNvPr id="2050" name="Picture 2" descr="MPI_Bcast vs MPI_Scatter">
            <a:extLst>
              <a:ext uri="{FF2B5EF4-FFF2-40B4-BE49-F238E27FC236}">
                <a16:creationId xmlns:a16="http://schemas.microsoft.com/office/drawing/2014/main" id="{0D7ABA68-688A-4022-803F-C2AC95848A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168"/>
          <a:stretch/>
        </p:blipFill>
        <p:spPr bwMode="auto">
          <a:xfrm>
            <a:off x="938899" y="2796833"/>
            <a:ext cx="2286000" cy="1322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86708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2336537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Gather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50" dirty="0" err="1"/>
              <a:t>MPI_Gather</a:t>
            </a:r>
            <a:r>
              <a:rPr lang="en-US" sz="1650" dirty="0"/>
              <a:t> (*</a:t>
            </a:r>
            <a:r>
              <a:rPr lang="en-US" sz="1650" dirty="0" err="1"/>
              <a:t>sendbuf</a:t>
            </a:r>
            <a:r>
              <a:rPr lang="en-US" sz="1650" dirty="0"/>
              <a:t>, </a:t>
            </a:r>
            <a:r>
              <a:rPr lang="en-US" sz="1650" dirty="0" err="1"/>
              <a:t>sendcnt</a:t>
            </a:r>
            <a:r>
              <a:rPr lang="en-US" sz="1650" dirty="0"/>
              <a:t>, </a:t>
            </a:r>
            <a:r>
              <a:rPr lang="en-US" sz="1650" dirty="0" err="1"/>
              <a:t>sendtype</a:t>
            </a:r>
            <a:r>
              <a:rPr lang="en-US" sz="1650" dirty="0"/>
              <a:t>, *</a:t>
            </a:r>
            <a:r>
              <a:rPr lang="en-US" sz="1650" dirty="0" err="1"/>
              <a:t>recvbuf</a:t>
            </a:r>
            <a:r>
              <a:rPr lang="en-US" sz="1650" dirty="0"/>
              <a:t>, </a:t>
            </a:r>
            <a:r>
              <a:rPr lang="en-US" sz="1650" dirty="0" err="1"/>
              <a:t>recvcount</a:t>
            </a:r>
            <a:r>
              <a:rPr lang="en-US" sz="1650" dirty="0"/>
              <a:t>, </a:t>
            </a:r>
            <a:r>
              <a:rPr lang="en-US" sz="1650" dirty="0" err="1"/>
              <a:t>recvtype</a:t>
            </a:r>
            <a:r>
              <a:rPr lang="en-US" sz="1650" dirty="0"/>
              <a:t>, root, comm)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Collects messages from each task in the group to a single destination task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MPI_Gatherv</a:t>
            </a:r>
            <a:r>
              <a:rPr lang="en-US" dirty="0"/>
              <a:t> to control explicitly the locations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 dirty="0">
                <a:cs typeface="Calibri" panose="020F0502020204030204" pitchFamily="34" charset="0"/>
              </a:rPr>
              <a:t>Examples</a:t>
            </a:r>
            <a:r>
              <a:rPr lang="en-US" dirty="0">
                <a:cs typeface="Calibri" panose="020F0502020204030204" pitchFamily="34" charset="0"/>
              </a:rPr>
              <a:t>: </a:t>
            </a:r>
            <a:r>
              <a:rPr lang="en-US" dirty="0" err="1">
                <a:cs typeface="Calibri" panose="020F0502020204030204" pitchFamily="34" charset="0"/>
              </a:rPr>
              <a:t>gather.c</a:t>
            </a:r>
            <a:r>
              <a:rPr lang="en-US" dirty="0">
                <a:cs typeface="Calibri" panose="020F0502020204030204" pitchFamily="34" charset="0"/>
              </a:rPr>
              <a:t> and gather2.c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445CF7-0771-49E4-9AB4-1FAD4AABEAC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465"/>
          <a:stretch/>
        </p:blipFill>
        <p:spPr>
          <a:xfrm>
            <a:off x="4575455" y="2213763"/>
            <a:ext cx="3004890" cy="2838297"/>
          </a:xfrm>
          <a:prstGeom prst="rect">
            <a:avLst/>
          </a:prstGeom>
        </p:spPr>
      </p:pic>
      <p:pic>
        <p:nvPicPr>
          <p:cNvPr id="3074" name="Picture 2" descr="MPI_Gather">
            <a:extLst>
              <a:ext uri="{FF2B5EF4-FFF2-40B4-BE49-F238E27FC236}">
                <a16:creationId xmlns:a16="http://schemas.microsoft.com/office/drawing/2014/main" id="{2A315174-58D9-4223-9638-07D342B00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091" y="3146620"/>
            <a:ext cx="22860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2067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E4B6166-A84E-440F-BFE6-D888E26BB365}"/>
              </a:ext>
            </a:extLst>
          </p:cNvPr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gradFill flip="none" rotWithShape="1">
            <a:gsLst>
              <a:gs pos="0">
                <a:srgbClr val="E2E2E2"/>
              </a:gs>
              <a:gs pos="100000">
                <a:srgbClr val="F0F0F0"/>
              </a:gs>
            </a:gsLst>
            <a:lin ang="2700000" scaled="1"/>
            <a:tileRect/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0F5CDC-2F1F-47D3-8C33-2E4B68C75AF9}"/>
              </a:ext>
            </a:extLst>
          </p:cNvPr>
          <p:cNvSpPr txBox="1"/>
          <p:nvPr/>
        </p:nvSpPr>
        <p:spPr>
          <a:xfrm>
            <a:off x="238125" y="43934"/>
            <a:ext cx="1843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CMSC 603 - HPDS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47622-3DC7-4A46-9871-79EAF68D98E5}"/>
              </a:ext>
            </a:extLst>
          </p:cNvPr>
          <p:cNvSpPr txBox="1"/>
          <p:nvPr/>
        </p:nvSpPr>
        <p:spPr>
          <a:xfrm>
            <a:off x="8452384" y="43934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b="1" dirty="0"/>
              <a:t>MPI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E48E4-A8FC-4343-9E21-32744D3C0F29}"/>
              </a:ext>
            </a:extLst>
          </p:cNvPr>
          <p:cNvSpPr txBox="1"/>
          <p:nvPr/>
        </p:nvSpPr>
        <p:spPr>
          <a:xfrm>
            <a:off x="0" y="457200"/>
            <a:ext cx="9144000" cy="2487861"/>
          </a:xfrm>
          <a:prstGeom prst="rect">
            <a:avLst/>
          </a:prstGeom>
          <a:noFill/>
        </p:spPr>
        <p:txBody>
          <a:bodyPr wrap="square" lIns="457200" tIns="182880" rIns="457200" bIns="0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dirty="0"/>
              <a:t>Reduce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 err="1"/>
              <a:t>MPI_Reduce</a:t>
            </a:r>
            <a:r>
              <a:rPr lang="en-US" dirty="0"/>
              <a:t> (*</a:t>
            </a:r>
            <a:r>
              <a:rPr lang="en-US" dirty="0" err="1"/>
              <a:t>sendbuf</a:t>
            </a:r>
            <a:r>
              <a:rPr lang="en-US" dirty="0"/>
              <a:t>, *</a:t>
            </a:r>
            <a:r>
              <a:rPr lang="en-US" dirty="0" err="1"/>
              <a:t>recvbuf</a:t>
            </a:r>
            <a:r>
              <a:rPr lang="en-US" dirty="0"/>
              <a:t>, count, datatype, op, root, comm)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Collects and applies a reduction operation on all tasks in the group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dirty="0"/>
              <a:t>Operations: MPI_MAX, MIN_SUM, MPI_PROD, MPI_LAND</a:t>
            </a:r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b="1" dirty="0">
                <a:cs typeface="Calibri" panose="020F0502020204030204" pitchFamily="34" charset="0"/>
              </a:rPr>
              <a:t>Example</a:t>
            </a:r>
            <a:r>
              <a:rPr lang="en-US" dirty="0">
                <a:cs typeface="Calibri" panose="020F0502020204030204" pitchFamily="34" charset="0"/>
              </a:rPr>
              <a:t>: </a:t>
            </a:r>
            <a:r>
              <a:rPr lang="en-US" dirty="0" err="1">
                <a:cs typeface="Calibri" panose="020F0502020204030204" pitchFamily="34" charset="0"/>
              </a:rPr>
              <a:t>reduce.c</a:t>
            </a:r>
            <a:endParaRPr lang="en-US" dirty="0"/>
          </a:p>
          <a:p>
            <a:pPr marL="800100" lvl="1" indent="-342900"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0" name="Picture 9" descr="A picture containing drawing&#10;&#10;Description automatically generated">
            <a:extLst>
              <a:ext uri="{FF2B5EF4-FFF2-40B4-BE49-F238E27FC236}">
                <a16:creationId xmlns:a16="http://schemas.microsoft.com/office/drawing/2014/main" id="{F5964E89-3E07-46A2-AB55-1C66F44B170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1244" y="91440"/>
            <a:ext cx="2121513" cy="274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78CC21-93D9-4473-8C2B-13EF57F64A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3846" y="2279285"/>
            <a:ext cx="4468494" cy="2839212"/>
          </a:xfrm>
          <a:prstGeom prst="rect">
            <a:avLst/>
          </a:prstGeom>
        </p:spPr>
      </p:pic>
      <p:pic>
        <p:nvPicPr>
          <p:cNvPr id="1026" name="Picture 2" descr="MPI_Reduce">
            <a:extLst>
              <a:ext uri="{FF2B5EF4-FFF2-40B4-BE49-F238E27FC236}">
                <a16:creationId xmlns:a16="http://schemas.microsoft.com/office/drawing/2014/main" id="{A321BDCE-8F27-4E3A-BE3C-AA1FC053E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90" y="2816820"/>
            <a:ext cx="2743200" cy="12059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PI_Reduce">
            <a:extLst>
              <a:ext uri="{FF2B5EF4-FFF2-40B4-BE49-F238E27FC236}">
                <a16:creationId xmlns:a16="http://schemas.microsoft.com/office/drawing/2014/main" id="{BFE2094F-5114-4D50-BC15-61288EDA2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90" y="3937578"/>
            <a:ext cx="2743200" cy="1205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278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Title 1">
            <a:extLst>
              <a:ext uri="{FF2B5EF4-FFF2-40B4-BE49-F238E27FC236}">
                <a16:creationId xmlns:a16="http://schemas.microsoft.com/office/drawing/2014/main" id="{9DBAF1C2-9FB6-4290-AD3E-99D6A93144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0360" y="418794"/>
            <a:ext cx="5577840" cy="1554479"/>
          </a:xfrm>
        </p:spPr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CMSC 603</a:t>
            </a:r>
            <a:br>
              <a:rPr lang="en-US" altLang="en-US" dirty="0">
                <a:solidFill>
                  <a:schemeClr val="bg1"/>
                </a:solidFill>
              </a:rPr>
            </a:br>
            <a:r>
              <a:rPr lang="en-US" altLang="en-US" dirty="0">
                <a:solidFill>
                  <a:schemeClr val="bg1"/>
                </a:solidFill>
              </a:rPr>
              <a:t>High-Performance Distributed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2CDDD7-DDB7-43AE-BECD-19516B258A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3260" y="2398088"/>
            <a:ext cx="4892040" cy="72771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+mj-lt"/>
                <a:ea typeface="+mn-ea"/>
              </a:rPr>
              <a:t>MPI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1FECE5-4D6B-49DE-9441-EFA9D6C573F0}"/>
              </a:ext>
            </a:extLst>
          </p:cNvPr>
          <p:cNvSpPr txBox="1"/>
          <p:nvPr/>
        </p:nvSpPr>
        <p:spPr>
          <a:xfrm>
            <a:off x="4773746" y="3468349"/>
            <a:ext cx="4038734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>
                <a:solidFill>
                  <a:schemeClr val="bg1"/>
                </a:solidFill>
              </a:rPr>
              <a:t>Dr. Preetam Ghosh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Professor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Department of Computer Science</a:t>
            </a:r>
          </a:p>
          <a:p>
            <a:pPr algn="ctr"/>
            <a:r>
              <a:rPr lang="en-US" sz="2200" dirty="0">
                <a:solidFill>
                  <a:schemeClr val="bg1"/>
                </a:solidFill>
              </a:rPr>
              <a:t>pghosh@vcu.edu</a:t>
            </a:r>
          </a:p>
          <a:p>
            <a:pPr algn="r"/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292253"/>
      </p:ext>
    </p:extLst>
  </p:cSld>
  <p:clrMapOvr>
    <a:masterClrMapping/>
  </p:clrMapOvr>
</p:sld>
</file>

<file path=ppt/theme/theme1.xml><?xml version="1.0" encoding="utf-8"?>
<a:theme xmlns:a="http://schemas.openxmlformats.org/drawingml/2006/main" name="VCU Egr Gold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CU Egr Grey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VCU Egr Gold Angle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VCU Egr Grey Angle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817</TotalTime>
  <Words>1463</Words>
  <Application>Microsoft Office PowerPoint</Application>
  <PresentationFormat>On-screen Show (16:9)</PresentationFormat>
  <Paragraphs>190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Courier New</vt:lpstr>
      <vt:lpstr>VCU Egr Gold </vt:lpstr>
      <vt:lpstr>VCU Egr Grey </vt:lpstr>
      <vt:lpstr>VCU Egr Gold Angle </vt:lpstr>
      <vt:lpstr>VCU Egr Grey Angle </vt:lpstr>
      <vt:lpstr>CMSC 603 High-Performance Distributed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CMSC 603 High-Performance Distributed Systems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603</dc:title>
  <dc:creator>Alberto Cano</dc:creator>
  <cp:lastModifiedBy>Preetam Ghosh</cp:lastModifiedBy>
  <cp:revision>318</cp:revision>
  <dcterms:created xsi:type="dcterms:W3CDTF">2016-04-01T17:42:41Z</dcterms:created>
  <dcterms:modified xsi:type="dcterms:W3CDTF">2025-09-03T05:49:28Z</dcterms:modified>
</cp:coreProperties>
</file>